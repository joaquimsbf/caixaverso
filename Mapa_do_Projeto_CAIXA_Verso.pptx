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751" r:id="rId2"/>
    <p:sldId id="752" r:id="rId3"/>
    <p:sldId id="789" r:id="rId4"/>
    <p:sldId id="790" r:id="rId10"/>
    <p:sldId id="791" r:id="rId11"/>
    <p:sldId id="792" r:id="rId12"/>
    <p:sldId id="793" r:id="rId13"/>
    <p:sldId id="794" r:id="rId14"/>
    <p:sldId id="795" r:id="rId15"/>
    <p:sldId id="796" r:id="rId16"/>
    <p:sldId id="797" r:id="rId17"/>
    <p:sldId id="798" r:id="rId18"/>
    <p:sldId id="799" r:id="rId19"/>
    <p:sldId id="800" r:id="rId20"/>
    <p:sldId id="801" r:id="rId21"/>
    <p:sldId id="802" r:id="rId22"/>
    <p:sldId id="803" r:id="rId23"/>
    <p:sldId id="804" r:id="rId24"/>
    <p:sldId id="805" r:id="rId25"/>
    <p:sldId id="806" r:id="rId26"/>
    <p:sldId id="807" r:id="rId27"/>
    <p:sldId id="808" r:id="rId28"/>
    <p:sldId id="809" r:id="rId29"/>
    <p:sldId id="810" r:id="rId30"/>
    <p:sldId id="811" r:id="rId31"/>
    <p:sldId id="812" r:id="rId32"/>
    <p:sldId id="813" r:id="rId33"/>
    <p:sldId id="814" r:id="rId34"/>
    <p:sldId id="815" r:id="rId35"/>
    <p:sldId id="816" r:id="rId36"/>
    <p:sldId id="817" r:id="rId37"/>
    <p:sldId id="818" r:id="rId38"/>
    <p:sldId id="819" r:id="rId39"/>
    <p:sldId id="820" r:id="rId40"/>
    <p:sldId id="821" r:id="rId9"/>
    <p:sldId id="822" r:id="rId8"/>
    <p:sldId id="823" r:id="rId7"/>
    <p:sldId id="824" r:id="rId6"/>
    <p:sldId id="825" r:id="rId5"/>
    <p:sldId id="826" r:id="rId46"/>
    <p:sldId id="827" r:id="rId47"/>
    <p:sldId id="828" r:id="rId48"/>
    <p:sldId id="829" r:id="rId49"/>
    <p:sldId id="830" r:id="rId50"/>
    <p:sldId id="831" r:id="rId51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20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43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92509-1976-FE50-5D4E-7A9513D0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3A702F-666E-1062-26CB-6923FB7A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2ED7CD-62AD-2002-E188-0DE9D537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7D35-4898-4438-AC90-5314193EC9B0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4E995-A219-C4A8-7EB2-BB2F73C1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D22178-E828-F360-3AFF-395527AB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89732-CC81-4AB1-AE0B-9B3385B1A6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48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241C832-7CB9-41EB-95FC-4396A8CFB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D3717512-160B-485B-937E-25DE24F619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2749" y="557859"/>
            <a:ext cx="23201682" cy="1255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1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2EC6A369-9237-4171-A64A-3F9358D40E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24387175" cy="137177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linkedin.com/in/joaquimdasilvabarracafilho/?locale=p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pic>
        <p:nvPicPr>
          <p:cNvPr id="3" name="Image 1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3652500"/>
            <a:ext cx="24387048" cy="63500"/>
          </a:xfrm>
          <a:prstGeom prst="rect">
            <a:avLst/>
          </a:prstGeom>
        </p:spPr>
      </p:pic>
      <p:pic>
        <p:nvPicPr>
          <p:cNvPr id="52" name="Image 50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9381" y="4800600"/>
            <a:ext cx="10300987" cy="2781300"/>
          </a:xfrm>
          <a:prstGeom prst="rect">
            <a:avLst/>
          </a:prstGeom>
        </p:spPr>
      </p:pic>
      <p:sp>
        <p:nvSpPr>
          <p:cNvPr id="53" name="Text 0"/>
          <p:cNvSpPr/>
          <p:nvPr/>
        </p:nvSpPr>
        <p:spPr>
          <a:xfrm>
            <a:off x="6515914" y="8496300"/>
            <a:ext cx="11355219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kern="0" spc="150" dirty="0">
                <a:solidFill>
                  <a:srgbClr val="ED145B">
                    <a:alpha val="100000"/>
                  </a:srgbClr>
                </a:solidFill>
                <a:latin typeface="Gotham HTF Medium" pitchFamily="34" charset="0"/>
                <a:ea typeface="Gotham HTF Medium" pitchFamily="34" charset="-122"/>
                <a:cs typeface="Gotham HTF Medium" pitchFamily="34" charset="-120"/>
              </a:rPr>
              <a:t>A MELHOR FACULDADE DE TECNOLOGIA DO BRASIL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67233" y="5989320"/>
            <a:ext cx="19852581" cy="233172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algn="l">
              <a:spcAft>
                <a:spcPts val="800"/>
              </a:spcAft>
              <a:defRPr sz="4400" b="0">
                <a:solidFill>
                  <a:srgbClr val="ED145B"/>
                </a:solidFill>
                <a:latin typeface="Gotham HTF Book"/>
              </a:defRPr>
            </a:pPr>
            <a:r>
              <a:rPr sz="4400" b="0">
                <a:solidFill>
                  <a:srgbClr val="ED145B"/>
                </a:solidFill>
                <a:latin typeface="Gotham HTF Book"/>
              </a:rPr>
              <a:t>Mapa do Projeto CAIXA Verso</a:t>
            </a:r>
          </a:p>
          <a:p>
            <a:pPr algn="l">
              <a:spcAft>
                <a:spcPts val="800"/>
              </a:spcAft>
              <a:defRPr sz="4400" b="0">
                <a:solidFill>
                  <a:srgbClr val="ED145B"/>
                </a:solidFill>
                <a:latin typeface="Gotham HTF Book"/>
              </a:defRPr>
            </a:pPr>
            <a:r>
              <a:rPr sz="4400" b="0">
                <a:solidFill>
                  <a:srgbClr val="ED145B"/>
                </a:solidFill>
                <a:latin typeface="Gotham HTF Book"/>
              </a:rPr>
              <a:t>Dados, RAG e Guardrails com IA</a:t>
            </a:r>
          </a:p>
        </p:txBody>
      </p:sp>
      <p:pic>
        <p:nvPicPr>
          <p:cNvPr id="4" name="Image 50" descr=" ">
            <a:extLst>
              <a:ext uri="{FF2B5EF4-FFF2-40B4-BE49-F238E27FC236}">
                <a16:creationId xmlns:a16="http://schemas.microsoft.com/office/drawing/2014/main" id="{3D4B3D8D-9CC5-4FD1-A912-3AEF7512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1B65CD9D-55BA-36E3-88D3-57A6DC421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6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51C3CB5-3C2E-6A78-FB9F-6759C7A0F358}"/>
              </a:ext>
            </a:extLst>
          </p:cNvPr>
          <p:cNvSpPr/>
          <p:nvPr/>
        </p:nvSpPr>
        <p:spPr>
          <a:xfrm>
            <a:off x="128016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2400">
                <a:solidFill>
                  <a:srgbClr val="ED145B"/>
                </a:solidFill>
                <a:latin typeface="Gotham HTF Book"/>
              </a:rPr>
              <a:t>QUEM VAI CONDUZIR A AULA?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FBA9912-6349-2720-5833-A9AED81617C3}"/>
              </a:ext>
            </a:extLst>
          </p:cNvPr>
          <p:cNvSpPr/>
          <p:nvPr/>
        </p:nvSpPr>
        <p:spPr>
          <a:xfrm>
            <a:off x="1681303" y="4591050"/>
            <a:ext cx="1277779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endParaRPr/>
          </a:p>
        </p:txBody>
      </p:sp>
      <p:pic>
        <p:nvPicPr>
          <p:cNvPr id="6" name="Image 50" descr=" ">
            <a:extLst>
              <a:ext uri="{FF2B5EF4-FFF2-40B4-BE49-F238E27FC236}">
                <a16:creationId xmlns:a16="http://schemas.microsoft.com/office/drawing/2014/main" id="{7FEB5983-41BA-61EF-62B1-204D53CD3A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6494" y="833718"/>
            <a:ext cx="3553685" cy="9595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34440" y="2788920"/>
            <a:ext cx="5806440" cy="5916168"/>
          </a:xfrm>
          <a:prstGeom prst="rect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oto_joaquim_minib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880360"/>
            <a:ext cx="5623560" cy="5733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2788920"/>
            <a:ext cx="9784080" cy="1143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3800">
                <a:solidFill>
                  <a:srgbClr val="ED145B"/>
                </a:solidFill>
                <a:latin typeface="Gotham HTF Book"/>
              </a:rPr>
              <a:t>Joaquim da Silva Barraca Filho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06908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pt-BR" sz="2500">
                <a:solidFill>
                  <a:srgbClr val="A9B5BD"/>
                </a:solidFill>
                <a:latin typeface="Gotham HTF Book"/>
              </a:rPr>
              <a:t>Coordenador de Dados e IA na Chaintech </a:t>
            </a:r>
            <a:r>
              <a:rPr sz="2500">
                <a:solidFill>
                  <a:srgbClr val="A9B5BD"/>
                </a:solidFill>
                <a:latin typeface="Gotham HTF Book"/>
              </a:rPr>
              <a:t>| </a:t>
            </a:r>
            <a:r>
              <a:rPr lang="pt-BR" sz="2500">
                <a:solidFill>
                  <a:srgbClr val="A9B5BD"/>
                </a:solidFill>
                <a:latin typeface="Gotham HTF Book"/>
              </a:rPr>
              <a:t>Professor FIAP</a:t>
            </a:r>
            <a:endParaRPr sz="2500">
              <a:solidFill>
                <a:srgbClr val="A9B5BD"/>
              </a:solidFill>
              <a:latin typeface="Gotham HTF Book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5029200"/>
            <a:ext cx="9875520" cy="4343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pt-BR" sz="2600">
                <a:solidFill>
                  <a:srgbClr val="A9B5BD"/>
                </a:solidFill>
                <a:latin typeface="Gotham HTF Book"/>
              </a:rPr>
              <a:t>Profissional </a:t>
            </a:r>
            <a:r>
              <a:rPr sz="2600">
                <a:solidFill>
                  <a:srgbClr val="A9B5BD"/>
                </a:solidFill>
                <a:latin typeface="Gotham HTF Book"/>
              </a:rPr>
              <a:t>com mais de 15 anos de experiência</a:t>
            </a:r>
            <a:r>
              <a:rPr lang="pt-BR" sz="2600">
                <a:solidFill>
                  <a:srgbClr val="A9B5BD"/>
                </a:solidFill>
                <a:latin typeface="Gotham HTF Book"/>
              </a:rPr>
              <a:t> em dados e no mercado financeiro, com atuação em analytics, compliance, research e investimentos</a:t>
            </a:r>
            <a:r>
              <a:rPr sz="2600">
                <a:solidFill>
                  <a:srgbClr val="A9B5BD"/>
                </a:solidFill>
                <a:latin typeface="Gotham HTF Book"/>
              </a:rPr>
              <a:t>.</a:t>
            </a:r>
          </a:p>
          <a:p>
            <a:endParaRPr sz="2600">
              <a:solidFill>
                <a:srgbClr val="A9B5BD"/>
              </a:solidFill>
              <a:latin typeface="Gotham HTF Book"/>
            </a:endParaRPr>
          </a:p>
          <a:p>
            <a:r>
              <a:rPr lang="pt-BR" sz="2600">
                <a:solidFill>
                  <a:srgbClr val="A9B5BD"/>
                </a:solidFill>
                <a:latin typeface="Gotham HTF Book"/>
              </a:rPr>
              <a:t>Especialista </a:t>
            </a:r>
            <a:r>
              <a:rPr sz="2600">
                <a:solidFill>
                  <a:srgbClr val="A9B5BD"/>
                </a:solidFill>
                <a:latin typeface="Gotham HTF Book"/>
              </a:rPr>
              <a:t>em </a:t>
            </a:r>
            <a:r>
              <a:rPr lang="pt-BR" sz="2600">
                <a:solidFill>
                  <a:srgbClr val="A9B5BD"/>
                </a:solidFill>
                <a:latin typeface="Gotham HTF Book"/>
              </a:rPr>
              <a:t>Data &amp; AI, GenAI, RAG e AWS. Lidera iniciativas que conectam estratégia de dados, governança </a:t>
            </a:r>
            <a:r>
              <a:rPr sz="2600">
                <a:solidFill>
                  <a:srgbClr val="A9B5BD"/>
                </a:solidFill>
                <a:latin typeface="Gotham HTF Book"/>
              </a:rPr>
              <a:t>e </a:t>
            </a:r>
            <a:r>
              <a:rPr lang="pt-BR" sz="2600">
                <a:solidFill>
                  <a:srgbClr val="A9B5BD"/>
                </a:solidFill>
                <a:latin typeface="Gotham HTF Book"/>
              </a:rPr>
              <a:t>Inteligência Artificial a resultados </a:t>
            </a:r>
            <a:r>
              <a:rPr sz="2600">
                <a:solidFill>
                  <a:srgbClr val="A9B5BD"/>
                </a:solidFill>
                <a:latin typeface="Gotham HTF Book"/>
              </a:rPr>
              <a:t>de </a:t>
            </a:r>
            <a:r>
              <a:rPr lang="pt-BR" sz="2600">
                <a:solidFill>
                  <a:srgbClr val="A9B5BD"/>
                </a:solidFill>
                <a:latin typeface="Gotham HTF Book"/>
              </a:rPr>
              <a:t>negócio</a:t>
            </a:r>
            <a:r>
              <a:rPr sz="2600">
                <a:solidFill>
                  <a:srgbClr val="A9B5BD"/>
                </a:solidFill>
                <a:latin typeface="Gotham HTF Book"/>
              </a:rPr>
              <a:t>.</a:t>
            </a:r>
          </a:p>
        </p:txBody>
      </p:sp>
      <p:pic>
        <p:nvPicPr>
          <p:cNvPr id="12" name="Picture 11" descr="qrcode_linkedin_atualiz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3760" y="7360920"/>
            <a:ext cx="4251960" cy="425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516600" y="1188720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pt-BR" sz="1600" b="1">
                <a:solidFill>
                  <a:srgbClr val="ED145B"/>
                </a:solidFill>
                <a:latin typeface="Gotham HTF Book"/>
              </a:rPr>
              <a:t>AVALIE ESTA AULA</a:t>
            </a:r>
            <a:endParaRPr sz="1600" b="1">
              <a:solidFill>
                <a:srgbClr val="ED145B"/>
              </a:solidFill>
              <a:latin typeface="Gotham HTF Book"/>
            </a:endParaRPr>
          </a:p>
        </p:txBody>
      </p:sp>
      <p:sp>
        <p:nvSpPr>
          <p:cNvPr id="14" name="TextBox 13">
            <a:hlinkClick r:id="rId6"/>
          </p:cNvPr>
          <p:cNvSpPr txBox="1"/>
          <p:nvPr/>
        </p:nvSpPr>
        <p:spPr>
          <a:xfrm>
            <a:off x="15727680" y="10972800"/>
            <a:ext cx="7315200" cy="411480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sz="1400">
                <a:solidFill>
                  <a:srgbClr val="A9B5BD"/>
                </a:solidFill>
                <a:latin typeface="Gotham HTF Book"/>
              </a:rPr>
              <a:t>linkedin.com/in/joaquimdasilvabarracafilho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COMO USAR ESTE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objetivo não é reler código: é entender a decisão técnica e o conceito de IA em cada etapa.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Setup é breve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Células de instalação e caminhos aparecem apenas como preparação do ambiente. Elas não são o centro conceitual da aula.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Transformações são explicadas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Nas demais células mostramos entrada, transformação, saída e por que a decisão é relevante para dados, IA e negócio.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Conexão com a Aula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Retomamos modelo versus aplicação, contexto, alucinação, segurança, prompting e escolha entre RAG e fine-tuning.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DA AULA 1 AO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notebook transforma fundamentos de IA Generativa em uma aplicação bancária sintética.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LLM é probabilístico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modelo produz linguagem token a token. Fluência não garante verdade. Por isso os números não podem depender apenas da memória do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RAG fornece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Dados Gold são convertidos em evidências recuperáveis. O prompt passa a conter informação relevante antes de o LLM gerar a resposta.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Guardrails limitam o 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Validações bloqueiam PII, injeção de prompt, perguntas fora de escopo e respostas sem fontes autorizadas.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VISÃO PONTA A PONTA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projeto combina engenharia de dados determinística com geração de linguagem probabilística.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7592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Dados crus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1063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05655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3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Limpeza e PII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39127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19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7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Qualidade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Contratos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37192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1784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Star 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35255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99847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63855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63855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Indicadores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133319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97911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19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19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Evidências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931384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095976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59984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59984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Limites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729448" y="4572000"/>
            <a:ext cx="2542032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894039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58048" y="5532120"/>
            <a:ext cx="2084831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Aplicação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958048" y="6583680"/>
            <a:ext cx="2084831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Bot e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Preparar bibliotecas, ambiente e caminhos. Uma etapa operacional, tratada de forma breve.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0–3 | PREPARAÇÃO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Apenas uma célula de setup lógico, embora o notebook separe título, dependências e caminhos.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Contexto do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Apresenta a jornada CAIXA Verso e reforça que clientes, indicadores e decisões são totalmente sintéticos.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Dependências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Instala e importa pandas, DuckDB, Plotly, Gemini, Pydantic AI, scikit-learn e Streamlit somente quando necessário.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Pastas e ambiente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Diferencia Colab de execução local. No PC, o caminho padrão é Z:\Caixaverso e pode ser alterado pelo aluno.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Preservar os dados como chegaram antes de limpar, corrigir ou interpretar.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4–7 | DADOS CRUS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Bronze funciona como evidência da origem e permite comparar antes versus depois.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No Colab, o aluno envia os CSVs. Localmente, o notebook procura os arquivos na pasta data/bronze do projeto.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Carga em memória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Cada CSV vira um DataFrame. Ainda não corrigimos tipos, categorias, datas ou valores monetários.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Inspeção 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Exibe inconsistências reais do caso sintético. O objetivo é evitar a ilusão de que dados de entrada já estão prontos para 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SILVER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Padronizar, tipar, pseudonimizar e tornar os dados comparáveis sem esconder problemas.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9 | FUNÇÕES REUTILIZÁVEIS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Uma camada única de regras evita tratamentos diferentes para o mesmo problema.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Texto e categorias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norm_text e norm_key removem espaços, padronizam caixa e ignoram acentos. Mapas convertem variações para categorias oficiais.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Datas e dinheiro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Datas aceitam apenas formatos conhecidos. Valores tratam separadores brasileiros e internacionais sem adivinhação silenciosa.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Pseudonimização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PII recebe hash com salt. Isso reduz exposição, mas não é anonimização: o dado continua sujeito a controle de acesso e LGPD.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10–13 | MOVIMENTAÇÕES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tabela transacional será a base da futura fato_movimentacoes.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Visualiza datas, tipos, canais, produtos e valores exatamente como chegaram.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Tratamento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Converte datas e dinheiro, padroniza captação/resgate, canal e produto. Inválidos viram nulos para aparecerem no relatório de qualidade.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Confere tipos e categorias finais. A Silver deve ser consistente, mas ainda não contém os cálculos analíticos da Gold.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14–17 | CLIENTES E PII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Segurança começa antes do LLM: o modelo não deve receber PII em claro.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Mostra nome, CPF, e-mail e telefone para evidenciar o risco existente na Bronze.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Tratamento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Padroniza status e segmento, cria pseudônimos estáveis e remove os campos pessoais em claro da Silver.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Valida que a saída contém apenas atributos necessários ao caso. É minimização de dados aplicada ao pipeline.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18–25 | PRODUTOS, RECEITA E METAS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Dimensões e premissas de negócio também precisam de tipos e categorias consistentes.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Produtos | células 18–21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Inspeciona, padroniza nomes e atributos dos produtos e confirma a saída Silver. Essa tabela alimentará dim_produto e o mix por produto.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54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54D6A1"/>
                </a:solidFill>
                <a:latin typeface="Gotham HTF Medium"/>
              </a:defRPr>
            </a:pPr>
            <a:r>
              <a:rPr sz="1800" b="1">
                <a:solidFill>
                  <a:srgbClr val="54D6A1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54D6A1"/>
                </a:solidFill>
                <a:latin typeface="Gotham HTF Medium"/>
              </a:defRPr>
            </a:pPr>
            <a:r>
              <a:rPr sz="2400" b="1">
                <a:solidFill>
                  <a:srgbClr val="54D6A1"/>
                </a:solidFill>
                <a:latin typeface="Gotham HTF Medium"/>
              </a:rPr>
              <a:t>Receita e metas | células 22–25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Converte períodos, fees, valores de receita e metas mensais. As metas serão usadas para contextualizar desempenho, não como fatos inventados pelo modelo.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Transformar expectativa em contrato mensurável antes de promover dados para a Gold.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26–27 | CONTRATOS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Qualidade não significa apenas ausência de nulos: cada dimensão responde a um risco.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Completude e validade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Mede campos obrigatórios, datas, valores e domínios aceitos. Erros críticos podem interromper a promoção.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Unicidade e consistência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Detecta identificadores duplicados e categorias incompatíveis entre tabelas.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Privacidade e integridade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Procura PII indevida e referências órfãs. O relatório vira evidência auditável do que foi verificado.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1 | CAMADAS E 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Responda antes de avançar. Depois, discutimos as respostas.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3375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593591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5387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Em qual camada devemos preservar o dado exatamente como chegou?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49377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1937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1389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Hash com salt transforma PII em dado completamente anônimo?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65379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67939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7391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O que deve acontecer quando uma regra crítica de qualidade falha?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1 | CAMADAS E QUALIDADE |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Use as respostas para revisar o raciocínio, não apenas memorizar termos.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47288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333756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Bronze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33756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Preserva a origem e permite reprocessar ou auditar o tratamento.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184648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507492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07492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Hash com salt é pseudonimização. O dado continua pessoal e sujeito à LGPD.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6922007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6812279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Bloquear a promoção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6812279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Falhas críticas não devem ser escondidas antes da Gold.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MODELAGEM E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Organizar os dados para análise confiável, rastreável e eficiente.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28 | ARQUITETURA MEDALHÃO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Cada camada tem uma responsabilidade diferente; misturá-las dificulta auditoria e reprocessamento.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Preserva a origem. É a fotografia do dado cru e permite reproduzir o tratamento.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Padroniza e protege. Resolve qualidade técnica sem antecipar toda regra analítica.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Entrega visão de negócio. Contém fatos, dimensões, KPIs e bases prontas para BI e 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29–35 | STAR SCHEMA COM DUCKDB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modelo estrela reduz ambiguidade: medidas ficam na fato e descrições nas dimensões.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30–31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SQL e conexão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Garante os scripts no projeto, abre o DuckDB e registra as tabelas Silver.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32–34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Materialização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Cria dim_cliente, dim_produto, dim_canal, fato_movimentacoes, KPIs mensais e uma base analítica denormalizada.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Testes de promoção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Valida contagens, chaves, domínios, ausência de PII e clientes órfãos antes de considerar a Gold pronta.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POR QUE STAR SCHEMA?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arquitetura facilita perguntas de negócio e melhora a qualidade do contexto fornecido ao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fato_movimentacoes registra eventos e medidas: data, cliente, produto, canal, tipo e valor. É a granularidade do acontecimento.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54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54D6A1"/>
                </a:solidFill>
                <a:latin typeface="Gotham HTF Medium"/>
              </a:defRPr>
            </a:pPr>
            <a:r>
              <a:rPr sz="1800" b="1">
                <a:solidFill>
                  <a:srgbClr val="54D6A1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54D6A1"/>
                </a:solidFill>
                <a:latin typeface="Gotham HTF Medium"/>
              </a:defRPr>
            </a:pPr>
            <a:r>
              <a:rPr sz="2400" b="1">
                <a:solidFill>
                  <a:srgbClr val="54D6A1"/>
                </a:solidFill>
                <a:latin typeface="Gotham HTF Medium"/>
              </a:rPr>
              <a:t>Dimensões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dim_cliente, dim_produto e dim_canal descrevem o evento. Separar descrição de medida reduz repetição e torna filtros e agregações mais claros.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Transformar tabelas Gold em perguntas e indicadores compreensíveis pelo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36–40 | PERGUNTAS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EDA produz evidências determinísticas antes de qualquer resposta generativa.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Fluxo 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Compara captação, resgate e captação líquida por período. Mostra tendência e relação com a meta.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38–39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Mix e canais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Identifica produtos e canais que concentram entrada de recursos. Essas tabelas serão fontes explícitas do RAG.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Receita e inatividade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Relaciona receita e status dos clientes. O notebook chama inatividade de proxy, evitando afirmar que ela representa churn real.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41–45 | DA ANÁLISE AO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Antes do RAG, o projeto prepara um documento executivo e configura o acesso ao Gemini.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analise_final.md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Resume KPIs, produtos, canais, receita e limitações em linguagem legível. Esse documento vira uma das fontes recuperáveis.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D145B"/>
                </a:solidFill>
                <a:latin typeface="Gotham HTF Medium"/>
              </a:defRPr>
            </a:pPr>
            <a:r>
              <a:rPr sz="1300" b="1">
                <a:solidFill>
                  <a:srgbClr val="ED145B"/>
                </a:solidFill>
                <a:latin typeface="Gotham HTF Medium"/>
              </a:rPr>
              <a:t>43–44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Segredo da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Carrega GEMINI_API_KEY por Colab Secrets, upload de .env ou arquivo local. A chave não é impressa nem inserida no prompt.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Centraliza o modelo de geração e o modelo de embeddings. Modelo e aplicação continuam sendo componentes diferentes, como vimos na Aula 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Recuperar evidências da Gold antes de pedir ao LLM que redija a resposta.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46 | DOCUMENTOS, CHUNKS E METADADOS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RAG começa na preparação do conhecimento, não na chamada ao modelo.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Documentos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Converte análise executiva, KPIs, mix, canais, metas e snapshot em textos com fonte identificada.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Divide textos longos em trechos menores com sobreposição. Trechos pequenos aumentam foco; pequenos demais podem perder contexto.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Metadados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Cada chunk guarda source, kind e índice. Isso permite citar a evidência e controlar quais fontes a resposta pode mencionar.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47–50 | TRÊS ESTRATÉGIAS DE RECUPERAÇÃO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Não existe um RAG universalmente melhor; existe uma estratégia adequada ao custo, linguagem e risco.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Lexical | 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Mais rápido, barato e explicável. Excelente quando pergunta e documento compartilham termos. Perde força com sinônimos e paráfrases.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Semântico |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Recupera por significado e entende melhor “entrada de recursos” como captação. Exige API, armazenamento vetorial, custo e maior latência.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Híbrido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Combina precisão lexical e significado semântico. É mais robusto, porém adiciona pesos, calibração, complexidade operacional e tempo.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COMO LER OS SCORES DO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Scores são úteis dentro de cada método, mas não são uma resposta de negócio.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Recuperação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tabela mostra fonte_top1, score e evidência. O score ordena trechos; ele não diz sozinho qual produto teve maior captação.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FFC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CA5C"/>
                </a:solidFill>
                <a:latin typeface="Gotham HTF Medium"/>
              </a:defRPr>
            </a:pPr>
            <a:r>
              <a:rPr sz="1800" b="1">
                <a:solidFill>
                  <a:srgbClr val="FFCA5C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CA5C"/>
                </a:solidFill>
                <a:latin typeface="Gotham HTF Medium"/>
              </a:defRPr>
            </a:pPr>
            <a:r>
              <a:rPr sz="2400" b="1">
                <a:solidFill>
                  <a:srgbClr val="FFCA5C"/>
                </a:solidFill>
                <a:latin typeface="Gotham HTF Medium"/>
              </a:rPr>
              <a:t>Resposta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Gold calcula a resposta de referência. Depois, o bot usa os trechos recuperados para redigir: Ações Brasil teve a maior captação no caso sintético.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QUAL RAG ESCOLHER?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decisão deve ser calibrada com um conjunto de perguntas e respostas esperadas.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Lexical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Escolha quando vocabulário é previsível, custo precisa ser mínimo e explicabilidade é prioridade.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Semântico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Escolha quando usuários usam sinônimos, linguagem natural variada e a recuperação por significado traz ganho mensurável.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Híbrido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Escolha quando precisão e cobertura são críticas e a equipe consegue operar, avaliar e ajustar dois mecanismos.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2 | QUAL RAG ESCOLHER?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Responda antes de avançar. Depois, discutimos as respostas.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3375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593591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5387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Busca exata, vocabulário previsível e custo mínimo: lexical, semântico ou híbrido?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49377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1937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1389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A pergunta usa “entrada de recursos”, mas o documento diz “captação”. Qual método tende a ajudar mais?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65379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67939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7391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O score de recuperação, sozinho, responde qual produto teve maior captação?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81381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83941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83393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Quando faz sentido combinar busca lexical e semântica?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2 | QUAL RAG ESCOLHER? |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Use as respostas para revisar o raciocínio, não apenas memorizar termos.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47288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333756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Lexical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33756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É rápido, barato e explicável quando há palavras em comum.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184648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507492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Semântico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07492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Embeddings aproximam textos pelo significado, mesmo com palavras diferentes.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6922007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6812279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6812279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score ordena evidências; a resposta deve ser calculada ou gerada com base nelas.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8659367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854964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RAG híbrido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854964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Quando precisão e cobertura justificam maior complexidade e latência.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Controlar entrada, contexto e saída: o LLM continua probabilístico mesmo quando usa RAG.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51 | PYDANTIC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saída estruturada substitui parsing frágil de texto e permite validar contratos.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Regex detecta CPF, e-mail, telefone e padrões comuns de prompt injection. O escopo limita perguntas ao caso sintético.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Execução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agente recebe somente os chunks recuperados, fontes permitidas e limites de uso. Retries tratam indisponibilidade transitória da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Saída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RespostaAnalista exige resposta, fontes, confiança, método e score. Validadores bloqueiam PII e fontes não autorizadas.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RAG NÃO SUBSTITUI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Os dois mecanismos reduzem riscos diferentes e trabalham em conjunto.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RAG responde “com base em quê?”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Traz conhecimento atualizado e rastreável. Reduz alucinação factual, mas ainda pode recuperar trecho irrelevante ou ser induzido por uma pergunta maliciosa.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90120" y="3703320"/>
            <a:ext cx="105156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710160" y="4050791"/>
            <a:ext cx="658368" cy="658368"/>
          </a:xfrm>
          <a:prstGeom prst="ellipse">
            <a:avLst/>
          </a:prstGeom>
          <a:noFill/>
          <a:ln w="25400">
            <a:solidFill>
              <a:srgbClr val="54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54D6A1"/>
                </a:solidFill>
                <a:latin typeface="Gotham HTF Medium"/>
              </a:defRPr>
            </a:pPr>
            <a:r>
              <a:rPr sz="1800" b="1">
                <a:solidFill>
                  <a:srgbClr val="54D6A1"/>
                </a:solidFill>
                <a:latin typeface="Gotham HTF Medium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4937760"/>
            <a:ext cx="98755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54D6A1"/>
                </a:solidFill>
                <a:latin typeface="Gotham HTF Medium"/>
              </a:defRPr>
            </a:pPr>
            <a:r>
              <a:rPr sz="2400" b="1">
                <a:solidFill>
                  <a:srgbClr val="54D6A1"/>
                </a:solidFill>
                <a:latin typeface="Gotham HTF Medium"/>
              </a:rPr>
              <a:t>Guardrail responde “o que é permitido?”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0" y="5943600"/>
            <a:ext cx="98755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Restringe entrada, fontes e formato da saída. Não cria conhecimento e não corrige um documento errado ou desatualizado.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52–53 | BOT E 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Uma aplicação de IA não termina quando “a resposta parece boa”; ela precisa de testes.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Bot no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O aluno altera PERGUNTA_DO_ALUNO e executa a célula. A resposta mostra texto, fontes, confiança, método RAG e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53A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Casos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Perguntas sobre captação e produtos verificam se o bot responde com evidências e não apenas com linguagem plausível.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Ataques esperados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CPF, e-mail, telefone, prompt injection e fora de escopo devem ser bloqueados. A suíte didática detecta regressões, mas não certifica segurança.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3 | RAG 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Responda antes de avançar. Depois, discutimos as respostas.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33375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593591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5387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Se a aplicação usa RAG, ela já está protegida contra PII e prompt injection?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49377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1937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1389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Qual guardrail deve agir antes da chamada ao modelo?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65379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67939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7391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Por que usar um modelo Pydantic para a resposta do agente?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8138160"/>
            <a:ext cx="20939760" cy="1435608"/>
          </a:xfrm>
          <a:prstGeom prst="roundRect">
            <a:avLst/>
          </a:prstGeom>
          <a:solidFill>
            <a:srgbClr val="202832"/>
          </a:solidFill>
          <a:ln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8394192"/>
            <a:ext cx="68580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ED145B"/>
                </a:solidFill>
                <a:latin typeface="Gotham HTF Medium"/>
              </a:defRPr>
            </a:pPr>
            <a:r>
              <a:rPr sz="20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8339328"/>
            <a:ext cx="18928080" cy="109728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Roboto"/>
              </a:defRPr>
            </a:pPr>
            <a:r>
              <a:rPr sz="2300" b="0">
                <a:solidFill>
                  <a:srgbClr val="FFFFFF"/>
                </a:solidFill>
                <a:latin typeface="Roboto"/>
              </a:rPr>
              <a:t>Fine-tuning elimina a necessidade de RAG e guardrails?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QUIZ 3 | RAG E GUARDRAILS |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Use as respostas para revisar o raciocínio, não apenas memorizar termos.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47288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333756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333756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RAG fornece contexto; não controla sozinho privacidade, escopo ou comportamento.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184648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507492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Guardrail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507492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PII, injeção de prompt e fora de escopo devem ser bloqueados antes do LLM.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6922007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6812279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Contrato de saída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6812279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Pydantic valida campos, tipos, fontes, confiança e regras de privacidade.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8659367"/>
            <a:ext cx="640080" cy="5943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54D6A1"/>
                </a:solidFill>
                <a:latin typeface="Gotham HTF Medium"/>
              </a:defRPr>
            </a:pPr>
            <a:r>
              <a:rPr sz="2000" b="1">
                <a:solidFill>
                  <a:srgbClr val="54D6A1"/>
                </a:solidFill>
                <a:latin typeface="Gotham HTF Medium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8549640"/>
            <a:ext cx="475488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54D6A1"/>
                </a:solidFill>
                <a:latin typeface="Gotham HTF Medium"/>
              </a:defRPr>
            </a:pPr>
            <a:r>
              <a:rPr sz="2300" b="1">
                <a:solidFill>
                  <a:srgbClr val="54D6A1"/>
                </a:solidFill>
                <a:latin typeface="Gotham HTF Medium"/>
              </a:rPr>
              <a:t>Não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8549640"/>
            <a:ext cx="14630400" cy="1508760"/>
          </a:xfrm>
          <a:prstGeom prst="rect">
            <a:avLst/>
          </a:prstGeom>
          <a:noFill/>
        </p:spPr>
        <p:txBody>
          <a:bodyPr wrap="square" anchor="ctr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Fine-tuning adapta comportamento; fatos atualizados e segurança continuam separados.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 54 | ONDE ENTRA O FINE-TUNING?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RAG e fine-tuning resolvem problemas diferentes.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Primeira opção para instruções, persona, formato e exemplos. É rápido de ajustar e não exige treinamento.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Melhor para fatos internos, atualizáveis e citáveis. O conhecimento muda sem retreinar o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Útil para comportamento ou estilo estável em escala. Não é a melhor solução para injetar números novos e ainda requer RAG e guardrails.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840480"/>
            <a:ext cx="1828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5800" b="0">
                <a:solidFill>
                  <a:srgbClr val="ED145B"/>
                </a:solidFill>
                <a:latin typeface="Gotham HTF Book"/>
              </a:defRPr>
            </a:pPr>
            <a:r>
              <a:rPr sz="5800" b="0">
                <a:solidFill>
                  <a:srgbClr val="ED145B"/>
                </a:solidFill>
                <a:latin typeface="Gotham HTF Book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794760"/>
            <a:ext cx="17830800" cy="1280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4600" b="0">
                <a:solidFill>
                  <a:srgbClr val="ED145B"/>
                </a:solidFill>
                <a:latin typeface="Gotham HTF Book"/>
              </a:defRPr>
            </a:pPr>
            <a:r>
              <a:rPr sz="4600" b="0">
                <a:solidFill>
                  <a:srgbClr val="ED145B"/>
                </a:solidFill>
                <a:latin typeface="Gotham HTF Book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349240"/>
            <a:ext cx="16916400" cy="18288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A2B6C1"/>
                </a:solidFill>
                <a:latin typeface="Roboto"/>
              </a:defRPr>
            </a:pPr>
            <a:r>
              <a:rPr sz="2500" b="0">
                <a:solidFill>
                  <a:srgbClr val="A2B6C1"/>
                </a:solidFill>
                <a:latin typeface="Roboto"/>
              </a:rPr>
              <a:t>Levar o experimento do notebook para uma experiência interativa sem misturar ambientes.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CÉLULAS 55–57 | COLAB, PC E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Executar no Colab não inicia automaticamente uma aplicação no computador local.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Exportação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Compacta os outputs gerados no Colab. O aluno baixa o ZIP e extrai a pasta outputs dentro de Z:\Caixaverso.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Instruções locais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Confere app/streamlit_app.py, outputs/rag_context.json e .env. Depois instala requirements.txt e inicia o Streamlit.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Front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A aplicação oferece perguntas sugeridas, chat livre, aviso de dados sintéticos e os mesmos princípios de RAG e guardrails.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A RESPOSTA DO BOT, PASSO A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Da pergunta do usuário até uma saída estruturada e rastreável.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7592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32120"/>
            <a:ext cx="2484555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Pergunta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583680"/>
            <a:ext cx="2484555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Texto do usuário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0787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5379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9387" y="5532120"/>
            <a:ext cx="2484555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9387" y="6583680"/>
            <a:ext cx="2484555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PII, injection e escopo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8574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3166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7174" y="5532120"/>
            <a:ext cx="2484555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Busca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7174" y="6583680"/>
            <a:ext cx="2484555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RAG híbrido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36362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00954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64962" y="5532120"/>
            <a:ext cx="2484555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Contexto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4962" y="6583680"/>
            <a:ext cx="2484555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Chunks + fontes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34149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8741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62749" y="5532120"/>
            <a:ext cx="2484555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62749" y="6583680"/>
            <a:ext cx="2484555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Geração com instruções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131937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4A5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296529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60537" y="5532120"/>
            <a:ext cx="2484555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Validação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60537" y="6583680"/>
            <a:ext cx="2484555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Pydantic + fontes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329724" y="4572000"/>
            <a:ext cx="2941755" cy="4937760"/>
          </a:xfrm>
          <a:prstGeom prst="roundRect">
            <a:avLst/>
          </a:prstGeom>
          <a:solidFill>
            <a:srgbClr val="202832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494316" y="4800600"/>
            <a:ext cx="594360" cy="5029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D145B"/>
                </a:solidFill>
                <a:latin typeface="Gotham HTF Medium"/>
              </a:defRPr>
            </a:pPr>
            <a:r>
              <a:rPr sz="1700" b="1">
                <a:solidFill>
                  <a:srgbClr val="ED145B"/>
                </a:solidFill>
                <a:latin typeface="Gotham HTF Medium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58324" y="5532120"/>
            <a:ext cx="2484555" cy="9601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Gotham HTF Medium"/>
              </a:defRPr>
            </a:pPr>
            <a:r>
              <a:rPr sz="1900" b="1">
                <a:solidFill>
                  <a:srgbClr val="FFFFFF"/>
                </a:solidFill>
                <a:latin typeface="Gotham HTF Medium"/>
              </a:rPr>
              <a:t>Resposta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58324" y="6583680"/>
            <a:ext cx="2484555" cy="24231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A2B6C1"/>
                </a:solidFill>
                <a:latin typeface="Roboto"/>
              </a:defRPr>
            </a:pPr>
            <a:r>
              <a:rPr sz="1600" b="0">
                <a:solidFill>
                  <a:srgbClr val="A2B6C1"/>
                </a:solidFill>
                <a:latin typeface="Roboto"/>
              </a:rPr>
              <a:t>Texto e confiança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MAPA DO APRENDIZADO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44</a:t>
            </a:r>
          </a:p>
        </p:txBody>
      </p:sp>
      <p:sp>
        <p:nvSpPr>
          <p:cNvPr id="4" name="Oval 3"/>
          <p:cNvSpPr/>
          <p:nvPr/>
        </p:nvSpPr>
        <p:spPr>
          <a:xfrm>
            <a:off x="1645920" y="3383279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337560"/>
            <a:ext cx="189280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Engenharia de dados cria a base confiável: Bronze, Silver, qualidade, Gold e Star Schema.</a:t>
            </a:r>
          </a:p>
        </p:txBody>
      </p:sp>
      <p:sp>
        <p:nvSpPr>
          <p:cNvPr id="6" name="Oval 5"/>
          <p:cNvSpPr/>
          <p:nvPr/>
        </p:nvSpPr>
        <p:spPr>
          <a:xfrm>
            <a:off x="1645920" y="4681728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4636008"/>
            <a:ext cx="189280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EDA transforma dados em evidências antes de qualquer geração de linguagem.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5980176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5934456"/>
            <a:ext cx="189280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RAG adiciona contexto ao LLM; lexical, semântico e híbrido têm custos e limitações diferentes.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7278624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7232904"/>
            <a:ext cx="189280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Guardrails controlam entrada e saída, mas não substituem segurança, autorização e monitoramento.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8577072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8531352"/>
            <a:ext cx="189280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Pydantic AI transforma a resposta em contrato validável, com fontes, confiança e limites.</a:t>
            </a:r>
          </a:p>
        </p:txBody>
      </p:sp>
      <p:sp>
        <p:nvSpPr>
          <p:cNvPr id="14" name="Oval 13"/>
          <p:cNvSpPr/>
          <p:nvPr/>
        </p:nvSpPr>
        <p:spPr>
          <a:xfrm>
            <a:off x="1645920" y="9875520"/>
            <a:ext cx="621792" cy="621792"/>
          </a:xfrm>
          <a:prstGeom prst="ellipse">
            <a:avLst/>
          </a:prstGeom>
          <a:noFill/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ED145B"/>
                </a:solidFill>
                <a:latin typeface="Roboto"/>
              </a:defRPr>
            </a:pPr>
            <a:r>
              <a:rPr sz="1600" b="1">
                <a:solidFill>
                  <a:srgbClr val="ED145B"/>
                </a:solidFill>
                <a:latin typeface="Roboto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9829800"/>
            <a:ext cx="189280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A2B6C1"/>
                </a:solidFill>
                <a:latin typeface="Roboto"/>
              </a:defRPr>
            </a:pPr>
            <a:r>
              <a:rPr sz="2200" b="0">
                <a:solidFill>
                  <a:srgbClr val="A2B6C1"/>
                </a:solidFill>
                <a:latin typeface="Roboto"/>
              </a:rPr>
              <a:t>Streamlit é a camada de experiência; modelo, pipeline, RAG e interface continuam componentes separados.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7320" y="1143000"/>
            <a:ext cx="20848320" cy="114300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3800" b="0">
                <a:solidFill>
                  <a:srgbClr val="ED145B"/>
                </a:solidFill>
                <a:latin typeface="Gotham HTF Book"/>
              </a:defRPr>
            </a:pPr>
            <a:r>
              <a:rPr sz="3800" b="0">
                <a:solidFill>
                  <a:srgbClr val="ED145B"/>
                </a:solidFill>
                <a:latin typeface="Gotham HTF Book"/>
              </a:rPr>
              <a:t>CHECKPOINT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331720"/>
            <a:ext cx="20299680" cy="8686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Se o aluno consegue responder estas três perguntas, compreendeu a arquitetura do projeto.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48520" y="12545568"/>
            <a:ext cx="914400" cy="41148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r">
              <a:spcAft>
                <a:spcPts val="800"/>
              </a:spcAft>
              <a:defRPr sz="1200" b="0">
                <a:solidFill>
                  <a:srgbClr val="A2B6C1"/>
                </a:solidFill>
                <a:latin typeface="Gotham HTF Book"/>
              </a:defRPr>
            </a:pPr>
            <a:r>
              <a:rPr sz="1200" b="0">
                <a:solidFill>
                  <a:srgbClr val="A2B6C1"/>
                </a:solidFill>
                <a:latin typeface="Gotham HTF Book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Por que não enviar Bronze ao LLM?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Porque dados crus contêm inconsistências, PII e ambiguidades que contaminariam o contexto e aumentariam risco.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Por que usar RAG?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Para fornecer conhecimento interno, atualizável e citável que não está garantido na memória do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30600" y="3703320"/>
            <a:ext cx="6629400" cy="7178040"/>
          </a:xfrm>
          <a:prstGeom prst="roundRect">
            <a:avLst/>
          </a:prstGeom>
          <a:solidFill>
            <a:srgbClr val="202832"/>
          </a:solidFill>
          <a:ln w="12700">
            <a:solidFill>
              <a:srgbClr val="354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550640" y="4050791"/>
            <a:ext cx="658368" cy="658368"/>
          </a:xfrm>
          <a:prstGeom prst="ellipse">
            <a:avLst/>
          </a:prstGeom>
          <a:noFill/>
          <a:ln w="25400"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>
            <a:norm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D145B"/>
                </a:solidFill>
                <a:latin typeface="Gotham HTF Medium"/>
              </a:defRPr>
            </a:pPr>
            <a:r>
              <a:rPr sz="1800" b="1">
                <a:solidFill>
                  <a:srgbClr val="ED145B"/>
                </a:solidFill>
                <a:latin typeface="Gotham HTF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0" y="4937760"/>
            <a:ext cx="5989320" cy="105156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D145B"/>
                </a:solidFill>
                <a:latin typeface="Gotham HTF Medium"/>
              </a:defRPr>
            </a:pPr>
            <a:r>
              <a:rPr sz="2400" b="1">
                <a:solidFill>
                  <a:srgbClr val="ED145B"/>
                </a:solidFill>
                <a:latin typeface="Gotham HTF Medium"/>
              </a:rPr>
              <a:t>Por que ainda usar guardrails?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0640" y="5943600"/>
            <a:ext cx="5989320" cy="4617720"/>
          </a:xfrm>
          <a:prstGeom prst="rect">
            <a:avLst/>
          </a:prstGeom>
          <a:noFill/>
        </p:spPr>
        <p:txBody>
          <a:bodyPr wrap="square" anchor="t" lIns="109728" rIns="109728" tIns="73152" bIns="73152">
            <a:norm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A2B6C1"/>
                </a:solidFill>
                <a:latin typeface="Roboto"/>
              </a:defRPr>
            </a:pPr>
            <a:r>
              <a:rPr sz="2000" b="0">
                <a:solidFill>
                  <a:srgbClr val="A2B6C1"/>
                </a:solidFill>
                <a:latin typeface="Roboto"/>
              </a:rPr>
              <a:t>Porque contexto correto não impede abuso, vazamento, saída fora do contrato ou comportamento inesperado.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2068</Words>
  <Application>Microsoft Office PowerPoint</Application>
  <PresentationFormat>Personalizar</PresentationFormat>
  <Paragraphs>335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5" baseType="lpstr">
      <vt:lpstr>Arial</vt:lpstr>
      <vt:lpstr>Gotham HTF Book</vt:lpstr>
      <vt:lpstr>Gotham HTF Medium</vt:lpstr>
      <vt:lpstr>Roboto Bold</vt:lpstr>
      <vt:lpstr>Roboto Regular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do Projeto CAIXA Verso</dc:title>
  <dc:subject>Dados, RAG e Guardrails com IA</dc:subject>
  <dc:creator>Joaquim da Silva Barraca Filho</dc:creator>
  <cp:lastModifiedBy>Joaquim Da Silva Barraca Filho</cp:lastModifiedBy>
  <cp:revision>5</cp:revision>
  <dcterms:created xsi:type="dcterms:W3CDTF">2024-08-08T16:34:10Z</dcterms:created>
  <dcterms:modified xsi:type="dcterms:W3CDTF">2026-08-18T16:37:22Z</dcterms:modified>
  <dc:description>Material didático com dados exclusivamente sintéticos.</dc:description>
</cp:coreProperties>
</file>